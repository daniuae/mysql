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5"/>
  </p:sldMasterIdLst>
  <p:notesMasterIdLst>
    <p:notesMasterId r:id="rId18"/>
  </p:notesMasterIdLst>
  <p:handoutMasterIdLst>
    <p:handoutMasterId r:id="rId19"/>
  </p:handoutMasterIdLst>
  <p:sldIdLst>
    <p:sldId id="256" r:id="rId6"/>
    <p:sldId id="261" r:id="rId7"/>
    <p:sldId id="271" r:id="rId8"/>
    <p:sldId id="277" r:id="rId9"/>
    <p:sldId id="269" r:id="rId10"/>
    <p:sldId id="272" r:id="rId11"/>
    <p:sldId id="273" r:id="rId12"/>
    <p:sldId id="280" r:id="rId13"/>
    <p:sldId id="279" r:id="rId14"/>
    <p:sldId id="275" r:id="rId15"/>
    <p:sldId id="281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A"/>
    <a:srgbClr val="595959"/>
    <a:srgbClr val="E7E2CA"/>
    <a:srgbClr val="7FA3BF"/>
    <a:srgbClr val="ECECEC"/>
    <a:srgbClr val="004880"/>
    <a:srgbClr val="FFDF7D"/>
    <a:srgbClr val="66B3E4"/>
    <a:srgbClr val="F9F0E0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F6EFB-696C-4FE0-A623-209EC2FD66D1}" v="58" dt="2026-02-09T04:40:12.789"/>
    <p1510:client id="{4630B160-E2BF-BDB3-E9D6-2F6D52F84855}" v="30" dt="2026-02-08T16:06:47.305"/>
    <p1510:client id="{B5017A04-8DC4-D157-1AE2-309EE6E06317}" v="4" dt="2026-02-08T16:07:51.807"/>
    <p1510:client id="{D3DFE145-CE70-2212-2EAF-31210E97543D}" v="55" dt="2026-02-08T16:39:24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A080E-9D40-4DB5-805A-66FF3723161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CE351-EFB6-45C2-8549-EDC9D7E1C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05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CE351-EFB6-45C2-8549-EDC9D7E1C5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7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CA04-4093-6E2B-6821-AFD8CF2D2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AEFEA-415D-2800-45C6-213339CB5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F713D-4765-FD5A-6D59-9C668ADF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36C1-0F6B-80A4-9784-0B718A65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78C36-3AA5-6071-563D-AC9DCA5A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3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F8BE-17A8-0BFB-3118-C2F0A1F5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70879-28E9-96A5-840A-1213351E0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7C330-FFD8-FEA6-B9E0-929AD22A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D4D02-65EC-5C1F-EFDD-8BB0B2F7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D64A5-CC0F-F663-37BE-595852B6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2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E13A-34B2-9ED7-10B1-53DB914C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63789-43DD-4A18-6D9F-4404B624C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02950-64E8-ED9D-ED61-1CF38874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1269A-696E-8AD9-EF05-EF07DFD1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E9F95-4DB1-6B57-63DC-7C86E978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73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01AC-3D7B-F107-7AAD-FF49971B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1A55B-50C1-26B5-CE91-C50DA26AD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A2B48-1355-65FE-2F7F-AC97F2279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0B5FF-37A4-2C51-7451-D097985A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BA2AB-8492-8895-A70E-222388C7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47B3B-4474-6A81-EF6B-14352BA0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10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1206-3241-B62B-118D-3E081212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F9A05-DBAC-9EA8-C035-2A62CB411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A5AF8-2687-206B-62C5-A335EDE33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2E996-4CDC-99F2-C1CB-4F400D219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24686-DD0E-9A19-551F-690909093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E2DDC-4742-86B5-BB02-569A1BDF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C3C43-5163-5C60-B122-4A3F193F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6AD00-32AE-3936-0F5E-1CC4D5E8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8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365A-09B9-7BB0-242C-001382C0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1117A-E150-197C-5A94-1E819964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B78C5-34FD-B78E-C973-C0366BC4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8516C-95F9-86BA-D786-DDCA6271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8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171E5-D81A-573E-0133-33133391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67A11-2BB3-DCE9-B38F-6FA56C99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D7349-3E47-4D79-B1E7-62A8E0F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04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0B22-2A86-3D75-047E-2D2C0062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00FB-7D97-FF0D-2806-054F3478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F468-DB5B-6567-D821-52D5EE0BA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B02F6-2D20-0193-3A31-2A772017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9C08D-467D-B55E-D834-06B9A3DD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B9E21-FCD4-1008-8FA8-8EC4246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4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40F5-9293-BEC0-BCA3-65BD2339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E87A5-3D22-D9B8-6378-4EA87E8AD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BE56D-A5FD-DDF7-9CA3-7390A63FD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66915-C871-9921-6FC0-802F0AC6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E1C62-87A5-AB5F-09B2-B75EC97B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0C859-F62B-6D23-E55C-E81774E2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A79FA1A-8DAA-AC77-62B4-783EAF12EE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FBCCBDD-73AD-ACAA-E025-11F4C78A7556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0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9B97-3865-DDC1-70E1-15D157FB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DA57D-B5B6-54B2-B4E8-29E3C2D66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8D37-9263-4282-F722-E5EC52E1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2527-AD18-AB83-BDF0-7826234D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2605D-C435-3922-7714-BD1E1386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07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5EC6B-835F-C2B5-7E6F-099335538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EC499-FA4C-6593-BCB8-27AC4E535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B52B-BB3C-9FD6-B11B-1A7636F2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90943-2986-DDAB-D308-BBCEFDFE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A3B61-BC50-6822-9D6F-6C0BFF0D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480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14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091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54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Headline goes here</a:t>
            </a:r>
            <a:br>
              <a:rPr lang="en-US"/>
            </a:br>
            <a:r>
              <a:rPr lang="en-US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991DE-3689-CE3E-12E0-65203515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E11E5-1B31-E3BA-2A96-C9868F04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B932-D125-9DAB-8AF9-FDC5E511D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A6F44-C8C0-425F-8FA6-1DEEB5B7EAD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E05E2-F272-790E-DF98-EE25C12A6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F9B46-867F-0776-DBC1-419CB13CC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57E35-4B83-4896-B593-2FEBBA0BD84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E44F5-6A13-4663-C2A0-01834707F116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428276-F553-3D17-9D8B-68EB416A1B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 Box 1073742684">
            <a:extLst>
              <a:ext uri="{FF2B5EF4-FFF2-40B4-BE49-F238E27FC236}">
                <a16:creationId xmlns:a16="http://schemas.microsoft.com/office/drawing/2014/main" id="{3524F060-192A-BEEC-F946-7A7C2CACC2DD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EA697E-0213-25EF-B902-865088F6DCEF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62" r:id="rId15"/>
    <p:sldLayoutId id="2147483661" r:id="rId16"/>
    <p:sldLayoutId id="2147483666" r:id="rId17"/>
    <p:sldLayoutId id="2147483665" r:id="rId18"/>
    <p:sldLayoutId id="2147483651" r:id="rId19"/>
    <p:sldLayoutId id="2147483660" r:id="rId20"/>
    <p:sldLayoutId id="2147483652" r:id="rId21"/>
    <p:sldLayoutId id="2147483653" r:id="rId22"/>
    <p:sldLayoutId id="2147483658" r:id="rId23"/>
    <p:sldLayoutId id="2147483656" r:id="rId24"/>
    <p:sldLayoutId id="2147483657" r:id="rId25"/>
    <p:sldLayoutId id="2147483664" r:id="rId26"/>
    <p:sldLayoutId id="2147483663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687" y="1738827"/>
            <a:ext cx="8937171" cy="2086725"/>
          </a:xfrm>
        </p:spPr>
        <p:txBody>
          <a:bodyPr/>
          <a:lstStyle/>
          <a:p>
            <a:r>
              <a:rPr lang="en-US" i="1" dirty="0"/>
              <a:t>CAPSTONE PROJECT </a:t>
            </a:r>
            <a:br>
              <a:rPr lang="en-US" i="1" dirty="0"/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Automated Retail Analytics using Google Cloud Services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DFA5779-6269-7DB4-AAC4-A2F1F31161F0}"/>
              </a:ext>
            </a:extLst>
          </p:cNvPr>
          <p:cNvSpPr txBox="1">
            <a:spLocks/>
          </p:cNvSpPr>
          <p:nvPr/>
        </p:nvSpPr>
        <p:spPr>
          <a:xfrm>
            <a:off x="785091" y="4075810"/>
            <a:ext cx="4467629" cy="194221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-</a:t>
            </a:r>
          </a:p>
          <a:p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KUMAR PRATYUSH</a:t>
            </a:r>
          </a:p>
          <a:p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SRUTHIKA </a:t>
            </a:r>
          </a:p>
          <a:p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MURAKUNDLA PRASAD</a:t>
            </a:r>
          </a:p>
          <a:p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VARUN MAYANDI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1805" y="580961"/>
            <a:ext cx="9281523" cy="434975"/>
          </a:xfrm>
        </p:spPr>
        <p:txBody>
          <a:bodyPr/>
          <a:lstStyle/>
          <a:p>
            <a:pPr marL="0" indent="0" algn="ctr">
              <a:buNone/>
            </a:pPr>
            <a:r>
              <a:rPr lang="en-IN" sz="4000">
                <a:solidFill>
                  <a:schemeClr val="bg1"/>
                </a:solidFill>
                <a:highlight>
                  <a:srgbClr val="004880"/>
                </a:highlight>
              </a:rPr>
              <a:t>Business Problem Statement</a:t>
            </a:r>
            <a:endParaRPr lang="en-US" sz="4000">
              <a:solidFill>
                <a:schemeClr val="bg1"/>
              </a:solidFill>
              <a:highlight>
                <a:srgbClr val="004880"/>
              </a:highlight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3280" y="1479169"/>
            <a:ext cx="10749280" cy="479787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retail operations team receives transactional data throughout the day from multiple source systems, including customer management, order processing, product catalog, and payment systems.</a:t>
            </a:r>
            <a:b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data arrives as raw CSV files in cloud storage, often containing duplicate records, inconsistent formats, missing values, and unstandardized codes.</a:t>
            </a:r>
          </a:p>
          <a:p>
            <a:pPr marL="0" indent="0">
              <a:buNone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reporting approaches are unable 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Reliably ingest and process daily batch files in a structured manner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 duplicate records and inconsistent customer or product information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historical tracking of customer attribute changes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trusted, analytics-ready data model for business reporting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 consistent and timely insights into sales performance and customer behavior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result, business teams lack a centralized and governed analytics system to monitor revenue trends, customer value, and product performance.</a:t>
            </a:r>
            <a:b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inconsistencies lead to conflicting KPIs across departments, delayed reporting cycles, and unreliable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F4ED224-370F-47CA-73B8-ACFEF1A40637}"/>
              </a:ext>
            </a:extLst>
          </p:cNvPr>
          <p:cNvSpPr/>
          <p:nvPr/>
        </p:nvSpPr>
        <p:spPr>
          <a:xfrm>
            <a:off x="3000273" y="5934674"/>
            <a:ext cx="5686526" cy="406400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BEEB3D-A701-8808-EB58-57BF5B16BD8F}"/>
              </a:ext>
            </a:extLst>
          </p:cNvPr>
          <p:cNvSpPr txBox="1"/>
          <p:nvPr/>
        </p:nvSpPr>
        <p:spPr>
          <a:xfrm>
            <a:off x="4542347" y="5879409"/>
            <a:ext cx="26023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dirty="0">
                <a:solidFill>
                  <a:srgbClr val="F2F7FA"/>
                </a:solidFill>
              </a:rPr>
              <a:t>ARCHITECTURE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CCEB1B-DAE0-6F12-505E-0F152E923891}"/>
              </a:ext>
            </a:extLst>
          </p:cNvPr>
          <p:cNvSpPr/>
          <p:nvPr/>
        </p:nvSpPr>
        <p:spPr>
          <a:xfrm>
            <a:off x="152400" y="5234002"/>
            <a:ext cx="107696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2F93D-1423-052F-3E0B-6A0874460B94}"/>
              </a:ext>
            </a:extLst>
          </p:cNvPr>
          <p:cNvSpPr/>
          <p:nvPr/>
        </p:nvSpPr>
        <p:spPr>
          <a:xfrm>
            <a:off x="10184814" y="1858281"/>
            <a:ext cx="1215030" cy="964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342975-5658-4389-CDC1-CCD11EF6E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6" y="49148"/>
            <a:ext cx="11459108" cy="588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C5DA-8CA6-8C2F-74BD-12239DAF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1BB55A-71B4-C210-0995-63D646478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4720" y="378327"/>
            <a:ext cx="9281523" cy="434975"/>
          </a:xfrm>
        </p:spPr>
        <p:txBody>
          <a:bodyPr/>
          <a:lstStyle/>
          <a:p>
            <a:pPr marL="0" indent="0">
              <a:buNone/>
            </a:pPr>
            <a:r>
              <a:rPr lang="en-US" b="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Quality Issues:-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C5743EF-5895-0193-4EBA-12A30A38822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3280" y="1037209"/>
            <a:ext cx="10784990" cy="283374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70000"/>
              </a:lnSpc>
            </a:pPr>
            <a:r>
              <a:rPr lang="en-US" dirty="0">
                <a:solidFill>
                  <a:schemeClr val="tx1"/>
                </a:solidFill>
              </a:rPr>
              <a:t>Missing and null values : </a:t>
            </a:r>
            <a:r>
              <a:rPr lang="en-US" b="0" dirty="0">
                <a:solidFill>
                  <a:schemeClr val="tx1"/>
                </a:solidFill>
              </a:rPr>
              <a:t>Present in both critical and non-critical columns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lvl="1" indent="0">
              <a:lnSpc>
                <a:spcPct val="7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chemeClr val="tx1"/>
                </a:solidFill>
              </a:rPr>
              <a:t>Duplicate records : </a:t>
            </a:r>
            <a:r>
              <a:rPr lang="en-US" b="0" dirty="0">
                <a:solidFill>
                  <a:schemeClr val="tx1"/>
                </a:solidFill>
              </a:rPr>
              <a:t>Duplicate </a:t>
            </a:r>
            <a:r>
              <a:rPr lang="en-US" b="0" dirty="0" err="1">
                <a:solidFill>
                  <a:schemeClr val="tx1"/>
                </a:solidFill>
              </a:rPr>
              <a:t>customer_code</a:t>
            </a:r>
            <a:r>
              <a:rPr lang="en-US" b="0" dirty="0">
                <a:solidFill>
                  <a:schemeClr val="tx1"/>
                </a:solidFill>
              </a:rPr>
              <a:t> values across batches.</a:t>
            </a:r>
          </a:p>
          <a:p>
            <a:pPr marL="0" lvl="1" indent="0">
              <a:lnSpc>
                <a:spcPct val="7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chemeClr val="tx1"/>
                </a:solidFill>
              </a:rPr>
              <a:t>Outliers : </a:t>
            </a:r>
            <a:r>
              <a:rPr lang="en-US" b="0" dirty="0">
                <a:solidFill>
                  <a:schemeClr val="tx1"/>
                </a:solidFill>
              </a:rPr>
              <a:t>Negative and extreme payment values.</a:t>
            </a:r>
          </a:p>
          <a:p>
            <a:pPr marL="0" lvl="1" indent="0">
              <a:lnSpc>
                <a:spcPct val="7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Invalid categorical values : </a:t>
            </a:r>
            <a:r>
              <a:rPr lang="en-US" b="0" dirty="0">
                <a:solidFill>
                  <a:schemeClr val="tx1"/>
                </a:solidFill>
              </a:rPr>
              <a:t>Invalid </a:t>
            </a:r>
            <a:r>
              <a:rPr lang="en-US" b="0" dirty="0" err="1">
                <a:solidFill>
                  <a:schemeClr val="tx1"/>
                </a:solidFill>
              </a:rPr>
              <a:t>product_codes</a:t>
            </a:r>
            <a:r>
              <a:rPr lang="en-US" b="0" dirty="0">
                <a:solidFill>
                  <a:schemeClr val="tx1"/>
                </a:solidFill>
              </a:rPr>
              <a:t>, </a:t>
            </a:r>
            <a:r>
              <a:rPr lang="en-US" b="0" dirty="0" err="1">
                <a:solidFill>
                  <a:schemeClr val="tx1"/>
                </a:solidFill>
              </a:rPr>
              <a:t>customer_codes</a:t>
            </a:r>
            <a:r>
              <a:rPr lang="en-US" b="0" dirty="0">
                <a:solidFill>
                  <a:schemeClr val="tx1"/>
                </a:solidFill>
              </a:rPr>
              <a:t>, and inconsistent </a:t>
            </a:r>
            <a:r>
              <a:rPr lang="en-US" b="0" dirty="0" err="1">
                <a:solidFill>
                  <a:schemeClr val="tx1"/>
                </a:solidFill>
              </a:rPr>
              <a:t>order_item_id</a:t>
            </a:r>
            <a:r>
              <a:rPr lang="en-US" b="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retailer wants a Data Lakehouse solution to: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E6AE4-820D-2745-B10B-129324361C84}"/>
              </a:ext>
            </a:extLst>
          </p:cNvPr>
          <p:cNvSpPr txBox="1"/>
          <p:nvPr/>
        </p:nvSpPr>
        <p:spPr>
          <a:xfrm>
            <a:off x="6107796" y="3870959"/>
            <a:ext cx="1737360" cy="2308324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Compute operational KPIs and delay/cancellation trends</a:t>
            </a:r>
          </a:p>
          <a:p>
            <a:endParaRPr lang="en-US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FEEB5-5F5A-7B42-2CE3-FD423FFF7517}"/>
              </a:ext>
            </a:extLst>
          </p:cNvPr>
          <p:cNvSpPr txBox="1"/>
          <p:nvPr/>
        </p:nvSpPr>
        <p:spPr>
          <a:xfrm>
            <a:off x="2324682" y="3883797"/>
            <a:ext cx="1737360" cy="2308324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Clean and standardize data into Silver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84049-E251-E9E4-F68C-3A2C0214B298}"/>
              </a:ext>
            </a:extLst>
          </p:cNvPr>
          <p:cNvSpPr txBox="1"/>
          <p:nvPr/>
        </p:nvSpPr>
        <p:spPr>
          <a:xfrm>
            <a:off x="4205206" y="3870958"/>
            <a:ext cx="1737360" cy="2308324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Create Gold star schema for analytics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D1D6B-47DB-8FAA-8C4D-7D9FD51719A6}"/>
              </a:ext>
            </a:extLst>
          </p:cNvPr>
          <p:cNvSpPr txBox="1"/>
          <p:nvPr/>
        </p:nvSpPr>
        <p:spPr>
          <a:xfrm>
            <a:off x="433125" y="3870960"/>
            <a:ext cx="1726327" cy="2308324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Ingest batch data and store in some fully managed storage.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B8D8F-8CBB-EDF7-4CA2-5FEABCED671F}"/>
              </a:ext>
            </a:extLst>
          </p:cNvPr>
          <p:cNvSpPr txBox="1"/>
          <p:nvPr/>
        </p:nvSpPr>
        <p:spPr>
          <a:xfrm>
            <a:off x="7999353" y="3870959"/>
            <a:ext cx="1737360" cy="2308324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Detect anomalies like delay spikes and airport congestion patterns</a:t>
            </a:r>
          </a:p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875FA-6740-4F53-5ACC-03AAAAB376F6}"/>
              </a:ext>
            </a:extLst>
          </p:cNvPr>
          <p:cNvSpPr txBox="1"/>
          <p:nvPr/>
        </p:nvSpPr>
        <p:spPr>
          <a:xfrm>
            <a:off x="9890910" y="3870959"/>
            <a:ext cx="1737360" cy="1754326"/>
          </a:xfrm>
          <a:prstGeom prst="rect">
            <a:avLst/>
          </a:prstGeom>
          <a:gradFill flip="none" rotWithShape="1">
            <a:gsLst>
              <a:gs pos="0">
                <a:srgbClr val="FFDF7D">
                  <a:tint val="66000"/>
                  <a:satMod val="160000"/>
                </a:srgbClr>
              </a:gs>
              <a:gs pos="50000">
                <a:srgbClr val="FFDF7D">
                  <a:tint val="44500"/>
                  <a:satMod val="160000"/>
                </a:srgbClr>
              </a:gs>
              <a:gs pos="100000">
                <a:srgbClr val="FFDF7D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Serve Looker Dashboards  connected to </a:t>
            </a:r>
            <a:r>
              <a:rPr lang="en-US" dirty="0" err="1"/>
              <a:t>BigQuery</a:t>
            </a:r>
            <a:r>
              <a:rPr lang="en-US" dirty="0"/>
              <a:t> datasets.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26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62157D-D863-FEFD-3865-E99545B68084}"/>
              </a:ext>
            </a:extLst>
          </p:cNvPr>
          <p:cNvSpPr txBox="1"/>
          <p:nvPr/>
        </p:nvSpPr>
        <p:spPr>
          <a:xfrm>
            <a:off x="660400" y="2323683"/>
            <a:ext cx="192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DAY 1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279561AD-DA72-0667-BA1D-9FB8CA5601EE}"/>
              </a:ext>
            </a:extLst>
          </p:cNvPr>
          <p:cNvSpPr txBox="1">
            <a:spLocks/>
          </p:cNvSpPr>
          <p:nvPr/>
        </p:nvSpPr>
        <p:spPr>
          <a:xfrm>
            <a:off x="345439" y="509404"/>
            <a:ext cx="3840481" cy="9531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000">
                <a:solidFill>
                  <a:schemeClr val="bg1"/>
                </a:solidFill>
                <a:highlight>
                  <a:srgbClr val="004880"/>
                </a:highlight>
              </a:rPr>
              <a:t>BRONZE LAYER</a:t>
            </a:r>
            <a:endParaRPr lang="en-US" sz="4000">
              <a:solidFill>
                <a:schemeClr val="bg1"/>
              </a:solidFill>
              <a:highlight>
                <a:srgbClr val="00488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8EA1E-F7F9-F563-B90C-63CED352C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4" y="986003"/>
            <a:ext cx="10219521" cy="518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48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F3F7-A583-1BCF-E146-C04B7C7EA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235" y="640080"/>
            <a:ext cx="3268685" cy="914400"/>
          </a:xfrm>
        </p:spPr>
        <p:txBody>
          <a:bodyPr/>
          <a:lstStyle/>
          <a:p>
            <a:r>
              <a:rPr lang="en-IN">
                <a:solidFill>
                  <a:schemeClr val="bg1"/>
                </a:solidFill>
                <a:highlight>
                  <a:srgbClr val="004880"/>
                </a:highlight>
              </a:rPr>
              <a:t>SILVER LAYER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02EC6-A122-8ABB-9BC7-57AB9306E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48" y="1438471"/>
            <a:ext cx="9715500" cy="461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6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5F181-D87E-9027-464F-ECF63855A5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381118"/>
            <a:ext cx="3302000" cy="656209"/>
          </a:xfrm>
        </p:spPr>
        <p:txBody>
          <a:bodyPr/>
          <a:lstStyle/>
          <a:p>
            <a:pPr marL="0" indent="0">
              <a:buNone/>
            </a:pPr>
            <a:r>
              <a:rPr lang="en-IN" sz="4000" dirty="0">
                <a:solidFill>
                  <a:schemeClr val="bg1"/>
                </a:solidFill>
                <a:highlight>
                  <a:srgbClr val="004880"/>
                </a:highlight>
              </a:rPr>
              <a:t>GOLD LAYER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65826-9ED0-0AD8-20CB-B94095D80CF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72140" y="1377570"/>
            <a:ext cx="11057860" cy="48956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7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Designed and built dimension tables: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dim_customers</a:t>
            </a:r>
            <a:endParaRPr lang="en-US" sz="17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dim_products</a:t>
            </a:r>
            <a:endParaRPr lang="en-US" sz="17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dim_date</a:t>
            </a:r>
            <a:endParaRPr lang="en-US" sz="17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7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Built Gold fact table: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gold.fact_sales</a:t>
            </a: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joining the latest Silver transactional data (orders, </a:t>
            </a:r>
            <a:r>
              <a:rPr lang="en-US" sz="17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order_items</a:t>
            </a: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payments) with all dimension tables.</a:t>
            </a:r>
          </a:p>
          <a:p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3.Implemented KPI feature engineering using SQL: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Orders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Quantity Sold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Order Value (AOV)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Lifetime Value (CLV)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Contribution 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&amp; Monthly Sales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91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8F558-6698-6D40-3AAB-C03EF460D620}"/>
              </a:ext>
            </a:extLst>
          </p:cNvPr>
          <p:cNvSpPr txBox="1"/>
          <p:nvPr/>
        </p:nvSpPr>
        <p:spPr>
          <a:xfrm>
            <a:off x="233916" y="414670"/>
            <a:ext cx="11355572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4. Built aggregated fact tables for performance optimization: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fact_daily_sales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fact_customer_sales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fact_product_sales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5. Optimized Gold tables: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Partitioned fact tables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order_date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Clustered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customer_code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product_code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Compared query performance before and after partitioning &amp; aggregation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Validated improvements using execution details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Integrated Gold layer with Looker Studio for executive dashboards and KPI monitoring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99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FD4B08-CE69-AD99-D847-4645B41EF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43" y="273376"/>
            <a:ext cx="11022777" cy="56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3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735F-564A-0930-4F15-08B9B3E5DC3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899298" y="832200"/>
            <a:ext cx="9366208" cy="49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0" dirty="0">
                <a:solidFill>
                  <a:schemeClr val="tx1"/>
                </a:solidFill>
              </a:rPr>
              <a:t>Connected Looker to </a:t>
            </a:r>
            <a:r>
              <a:rPr lang="en-IN" sz="2000" b="0" dirty="0" err="1">
                <a:solidFill>
                  <a:schemeClr val="tx1"/>
                </a:solidFill>
              </a:rPr>
              <a:t>BigQuery</a:t>
            </a:r>
            <a:r>
              <a:rPr lang="en-IN" sz="2000" b="0" dirty="0">
                <a:solidFill>
                  <a:schemeClr val="tx1"/>
                </a:solidFill>
              </a:rPr>
              <a:t> Warehouse and made Looker Dashboards.</a:t>
            </a:r>
          </a:p>
          <a:p>
            <a:endParaRPr lang="en-I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72E98B5-0D28-CEED-F03C-D835510038F0}"/>
              </a:ext>
            </a:extLst>
          </p:cNvPr>
          <p:cNvSpPr txBox="1">
            <a:spLocks/>
          </p:cNvSpPr>
          <p:nvPr/>
        </p:nvSpPr>
        <p:spPr>
          <a:xfrm>
            <a:off x="2840720" y="175991"/>
            <a:ext cx="7228184" cy="656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4000" dirty="0">
                <a:solidFill>
                  <a:schemeClr val="tx1"/>
                </a:solidFill>
              </a:rPr>
              <a:t>LOOKER AND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9525D-FDBC-29B7-892F-EB90F0B37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720" y="1322472"/>
            <a:ext cx="6502734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1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81B9C-013F-80C2-EEE4-2D31EA892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38" y="827220"/>
            <a:ext cx="7359924" cy="551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5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DFFD66-054A-F555-B01C-865512093A1D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1740195" y="2843974"/>
            <a:ext cx="5260045" cy="117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2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CBCD0B-8E49-473F-9B37-931C1D23841D}">
  <ds:schemaRefs>
    <ds:schemaRef ds:uri="88563cb8-e9e3-40d4-951f-126d0c29510d"/>
    <ds:schemaRef ds:uri="dc0ddbac-d92f-4135-ae82-46af643a22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4C55CB52-33A3-4B47-8C1D-0EE24875E3DC}">
  <ds:schemaRefs>
    <ds:schemaRef ds:uri="88563cb8-e9e3-40d4-951f-126d0c29510d"/>
    <ds:schemaRef ds:uri="dc0ddbac-d92f-4135-ae82-46af643a22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</TotalTime>
  <Words>476</Words>
  <Application>Microsoft Office PowerPoint</Application>
  <PresentationFormat>Widescreen</PresentationFormat>
  <Paragraphs>75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Frutiger 45 bold</vt:lpstr>
      <vt:lpstr>Frutiger 45 Light</vt:lpstr>
      <vt:lpstr>Frutiger LT Pro 45 Light</vt:lpstr>
      <vt:lpstr>Symbol</vt:lpstr>
      <vt:lpstr>Wingdings</vt:lpstr>
      <vt:lpstr>Office Theme</vt:lpstr>
      <vt:lpstr>CAPSTONE PROJECT  Automated Retail Analytics using Google Cloud Services</vt:lpstr>
      <vt:lpstr>PowerPoint Presentation</vt:lpstr>
      <vt:lpstr>PowerPoint Presentation</vt:lpstr>
      <vt:lpstr>PowerPoint Presentation</vt:lpstr>
      <vt:lpstr>PowerPoint Presentation</vt:lpstr>
      <vt:lpstr>SILVER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Bansal (IN48308)</dc:creator>
  <cp:lastModifiedBy>User</cp:lastModifiedBy>
  <cp:revision>15</cp:revision>
  <dcterms:created xsi:type="dcterms:W3CDTF">2026-02-04T06:38:01Z</dcterms:created>
  <dcterms:modified xsi:type="dcterms:W3CDTF">2026-02-12T13:29:04Z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